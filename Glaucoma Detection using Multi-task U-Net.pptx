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2" r:id="rId6"/>
    <p:sldId id="263" r:id="rId7"/>
    <p:sldId id="267" r:id="rId8"/>
    <p:sldId id="265" r:id="rId9"/>
    <p:sldId id="266" r:id="rId10"/>
    <p:sldId id="264" r:id="rId11"/>
    <p:sldId id="261"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CA40FE-B5E3-844B-E729-C93274CBBF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31052FB-6376-5751-93A7-4DAEC4B13E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0D2360F-0E76-FE69-A5BA-782136DE6207}"/>
              </a:ext>
            </a:extLst>
          </p:cNvPr>
          <p:cNvSpPr>
            <a:spLocks noGrp="1"/>
          </p:cNvSpPr>
          <p:nvPr>
            <p:ph type="dt" sz="half" idx="10"/>
          </p:nvPr>
        </p:nvSpPr>
        <p:spPr/>
        <p:txBody>
          <a:bodyPr/>
          <a:lstStyle/>
          <a:p>
            <a:fld id="{62F55175-990D-4A3F-9D9A-ECC5F3FBED8F}" type="datetimeFigureOut">
              <a:rPr lang="en-IN" smtClean="0"/>
              <a:t>21-01-2026</a:t>
            </a:fld>
            <a:endParaRPr lang="en-IN"/>
          </a:p>
        </p:txBody>
      </p:sp>
      <p:sp>
        <p:nvSpPr>
          <p:cNvPr id="5" name="Footer Placeholder 4">
            <a:extLst>
              <a:ext uri="{FF2B5EF4-FFF2-40B4-BE49-F238E27FC236}">
                <a16:creationId xmlns:a16="http://schemas.microsoft.com/office/drawing/2014/main" id="{13CF8432-F304-27CE-7457-1C5335493E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D260621-713B-064A-7DAA-30E739DC91A1}"/>
              </a:ext>
            </a:extLst>
          </p:cNvPr>
          <p:cNvSpPr>
            <a:spLocks noGrp="1"/>
          </p:cNvSpPr>
          <p:nvPr>
            <p:ph type="sldNum" sz="quarter" idx="12"/>
          </p:nvPr>
        </p:nvSpPr>
        <p:spPr/>
        <p:txBody>
          <a:bodyPr/>
          <a:lstStyle/>
          <a:p>
            <a:fld id="{F9C287E7-D6FB-40D4-8C19-4B811C2075C9}" type="slidenum">
              <a:rPr lang="en-IN" smtClean="0"/>
              <a:t>‹#›</a:t>
            </a:fld>
            <a:endParaRPr lang="en-IN"/>
          </a:p>
        </p:txBody>
      </p:sp>
    </p:spTree>
    <p:extLst>
      <p:ext uri="{BB962C8B-B14F-4D97-AF65-F5344CB8AC3E}">
        <p14:creationId xmlns:p14="http://schemas.microsoft.com/office/powerpoint/2010/main" val="15100153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21BBFA-2DF8-2353-ADBF-D462108020A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2BCC2D4-0792-6738-B705-15D201B1493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9887810-B463-C7B2-BFC5-93B23B8C2DA8}"/>
              </a:ext>
            </a:extLst>
          </p:cNvPr>
          <p:cNvSpPr>
            <a:spLocks noGrp="1"/>
          </p:cNvSpPr>
          <p:nvPr>
            <p:ph type="dt" sz="half" idx="10"/>
          </p:nvPr>
        </p:nvSpPr>
        <p:spPr/>
        <p:txBody>
          <a:bodyPr/>
          <a:lstStyle/>
          <a:p>
            <a:fld id="{62F55175-990D-4A3F-9D9A-ECC5F3FBED8F}" type="datetimeFigureOut">
              <a:rPr lang="en-IN" smtClean="0"/>
              <a:t>21-01-2026</a:t>
            </a:fld>
            <a:endParaRPr lang="en-IN"/>
          </a:p>
        </p:txBody>
      </p:sp>
      <p:sp>
        <p:nvSpPr>
          <p:cNvPr id="5" name="Footer Placeholder 4">
            <a:extLst>
              <a:ext uri="{FF2B5EF4-FFF2-40B4-BE49-F238E27FC236}">
                <a16:creationId xmlns:a16="http://schemas.microsoft.com/office/drawing/2014/main" id="{DDF24EB6-CC45-AD99-4E9D-FCB8C240D9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02D0986-1D67-A34F-73F1-BE83868C5D17}"/>
              </a:ext>
            </a:extLst>
          </p:cNvPr>
          <p:cNvSpPr>
            <a:spLocks noGrp="1"/>
          </p:cNvSpPr>
          <p:nvPr>
            <p:ph type="sldNum" sz="quarter" idx="12"/>
          </p:nvPr>
        </p:nvSpPr>
        <p:spPr/>
        <p:txBody>
          <a:bodyPr/>
          <a:lstStyle/>
          <a:p>
            <a:fld id="{F9C287E7-D6FB-40D4-8C19-4B811C2075C9}" type="slidenum">
              <a:rPr lang="en-IN" smtClean="0"/>
              <a:t>‹#›</a:t>
            </a:fld>
            <a:endParaRPr lang="en-IN"/>
          </a:p>
        </p:txBody>
      </p:sp>
    </p:spTree>
    <p:extLst>
      <p:ext uri="{BB962C8B-B14F-4D97-AF65-F5344CB8AC3E}">
        <p14:creationId xmlns:p14="http://schemas.microsoft.com/office/powerpoint/2010/main" val="472480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36C2D-900F-CC8B-DEF0-2F4EB2E092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C653E54-0898-1E3A-A333-8FD0AB0B104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46A286-A3FB-B790-F18B-BA0CC06D1BE9}"/>
              </a:ext>
            </a:extLst>
          </p:cNvPr>
          <p:cNvSpPr>
            <a:spLocks noGrp="1"/>
          </p:cNvSpPr>
          <p:nvPr>
            <p:ph type="dt" sz="half" idx="10"/>
          </p:nvPr>
        </p:nvSpPr>
        <p:spPr/>
        <p:txBody>
          <a:bodyPr/>
          <a:lstStyle/>
          <a:p>
            <a:fld id="{62F55175-990D-4A3F-9D9A-ECC5F3FBED8F}" type="datetimeFigureOut">
              <a:rPr lang="en-IN" smtClean="0"/>
              <a:t>21-01-2026</a:t>
            </a:fld>
            <a:endParaRPr lang="en-IN"/>
          </a:p>
        </p:txBody>
      </p:sp>
      <p:sp>
        <p:nvSpPr>
          <p:cNvPr id="5" name="Footer Placeholder 4">
            <a:extLst>
              <a:ext uri="{FF2B5EF4-FFF2-40B4-BE49-F238E27FC236}">
                <a16:creationId xmlns:a16="http://schemas.microsoft.com/office/drawing/2014/main" id="{CF70EE64-2EF1-2336-D445-A18E527CC5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A3A0D4-6FDB-BA5C-46A8-5451F0BFAEB1}"/>
              </a:ext>
            </a:extLst>
          </p:cNvPr>
          <p:cNvSpPr>
            <a:spLocks noGrp="1"/>
          </p:cNvSpPr>
          <p:nvPr>
            <p:ph type="sldNum" sz="quarter" idx="12"/>
          </p:nvPr>
        </p:nvSpPr>
        <p:spPr/>
        <p:txBody>
          <a:bodyPr/>
          <a:lstStyle/>
          <a:p>
            <a:fld id="{F9C287E7-D6FB-40D4-8C19-4B811C2075C9}" type="slidenum">
              <a:rPr lang="en-IN" smtClean="0"/>
              <a:t>‹#›</a:t>
            </a:fld>
            <a:endParaRPr lang="en-IN"/>
          </a:p>
        </p:txBody>
      </p:sp>
    </p:spTree>
    <p:extLst>
      <p:ext uri="{BB962C8B-B14F-4D97-AF65-F5344CB8AC3E}">
        <p14:creationId xmlns:p14="http://schemas.microsoft.com/office/powerpoint/2010/main" val="957580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8B1FF-9886-8AEE-E08F-65144AF6974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9A01C8-7D46-F89E-B589-188CBECA671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6134D17-CE73-A417-83CA-23E64CFC09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7398706-E2A9-9BCE-227D-1C2C4F8B1EA1}"/>
              </a:ext>
            </a:extLst>
          </p:cNvPr>
          <p:cNvSpPr>
            <a:spLocks noGrp="1"/>
          </p:cNvSpPr>
          <p:nvPr>
            <p:ph type="dt" sz="half" idx="10"/>
          </p:nvPr>
        </p:nvSpPr>
        <p:spPr/>
        <p:txBody>
          <a:bodyPr/>
          <a:lstStyle/>
          <a:p>
            <a:fld id="{62F55175-990D-4A3F-9D9A-ECC5F3FBED8F}" type="datetimeFigureOut">
              <a:rPr lang="en-IN" smtClean="0"/>
              <a:t>21-01-2026</a:t>
            </a:fld>
            <a:endParaRPr lang="en-IN"/>
          </a:p>
        </p:txBody>
      </p:sp>
      <p:sp>
        <p:nvSpPr>
          <p:cNvPr id="6" name="Footer Placeholder 5">
            <a:extLst>
              <a:ext uri="{FF2B5EF4-FFF2-40B4-BE49-F238E27FC236}">
                <a16:creationId xmlns:a16="http://schemas.microsoft.com/office/drawing/2014/main" id="{DD0349A4-0945-F49D-846C-7D40DFEDB76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1CFF58F-05F5-699B-609A-56ED5711AAD7}"/>
              </a:ext>
            </a:extLst>
          </p:cNvPr>
          <p:cNvSpPr>
            <a:spLocks noGrp="1"/>
          </p:cNvSpPr>
          <p:nvPr>
            <p:ph type="sldNum" sz="quarter" idx="12"/>
          </p:nvPr>
        </p:nvSpPr>
        <p:spPr/>
        <p:txBody>
          <a:bodyPr/>
          <a:lstStyle/>
          <a:p>
            <a:fld id="{F9C287E7-D6FB-40D4-8C19-4B811C2075C9}" type="slidenum">
              <a:rPr lang="en-IN" smtClean="0"/>
              <a:t>‹#›</a:t>
            </a:fld>
            <a:endParaRPr lang="en-IN"/>
          </a:p>
        </p:txBody>
      </p:sp>
    </p:spTree>
    <p:extLst>
      <p:ext uri="{BB962C8B-B14F-4D97-AF65-F5344CB8AC3E}">
        <p14:creationId xmlns:p14="http://schemas.microsoft.com/office/powerpoint/2010/main" val="575135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F89032-8FB0-D0C5-0A53-32F462E7305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7B202D2-1430-1768-7464-8C29B0F98E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758CA9-353F-07D0-EF17-165B707C4C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717FBE2-236C-9159-7F1F-0EFB03B3939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384616-D6FF-4DF9-9813-7EB4C158695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349D6DB-875D-83B1-0E9C-57E33C6A1271}"/>
              </a:ext>
            </a:extLst>
          </p:cNvPr>
          <p:cNvSpPr>
            <a:spLocks noGrp="1"/>
          </p:cNvSpPr>
          <p:nvPr>
            <p:ph type="dt" sz="half" idx="10"/>
          </p:nvPr>
        </p:nvSpPr>
        <p:spPr/>
        <p:txBody>
          <a:bodyPr/>
          <a:lstStyle/>
          <a:p>
            <a:fld id="{62F55175-990D-4A3F-9D9A-ECC5F3FBED8F}" type="datetimeFigureOut">
              <a:rPr lang="en-IN" smtClean="0"/>
              <a:t>21-01-2026</a:t>
            </a:fld>
            <a:endParaRPr lang="en-IN"/>
          </a:p>
        </p:txBody>
      </p:sp>
      <p:sp>
        <p:nvSpPr>
          <p:cNvPr id="8" name="Footer Placeholder 7">
            <a:extLst>
              <a:ext uri="{FF2B5EF4-FFF2-40B4-BE49-F238E27FC236}">
                <a16:creationId xmlns:a16="http://schemas.microsoft.com/office/drawing/2014/main" id="{CA151BEC-6E18-E93B-F288-109A2390488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B006180-A865-EF58-3C31-43AFA629A92D}"/>
              </a:ext>
            </a:extLst>
          </p:cNvPr>
          <p:cNvSpPr>
            <a:spLocks noGrp="1"/>
          </p:cNvSpPr>
          <p:nvPr>
            <p:ph type="sldNum" sz="quarter" idx="12"/>
          </p:nvPr>
        </p:nvSpPr>
        <p:spPr/>
        <p:txBody>
          <a:bodyPr/>
          <a:lstStyle/>
          <a:p>
            <a:fld id="{F9C287E7-D6FB-40D4-8C19-4B811C2075C9}" type="slidenum">
              <a:rPr lang="en-IN" smtClean="0"/>
              <a:t>‹#›</a:t>
            </a:fld>
            <a:endParaRPr lang="en-IN"/>
          </a:p>
        </p:txBody>
      </p:sp>
    </p:spTree>
    <p:extLst>
      <p:ext uri="{BB962C8B-B14F-4D97-AF65-F5344CB8AC3E}">
        <p14:creationId xmlns:p14="http://schemas.microsoft.com/office/powerpoint/2010/main" val="1534217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2F0A5-F896-C1BA-24F4-53BEAEE2A2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8B3D4D9-C72A-9437-AD7C-7DA5BF797BD0}"/>
              </a:ext>
            </a:extLst>
          </p:cNvPr>
          <p:cNvSpPr>
            <a:spLocks noGrp="1"/>
          </p:cNvSpPr>
          <p:nvPr>
            <p:ph type="dt" sz="half" idx="10"/>
          </p:nvPr>
        </p:nvSpPr>
        <p:spPr/>
        <p:txBody>
          <a:bodyPr/>
          <a:lstStyle/>
          <a:p>
            <a:fld id="{62F55175-990D-4A3F-9D9A-ECC5F3FBED8F}" type="datetimeFigureOut">
              <a:rPr lang="en-IN" smtClean="0"/>
              <a:t>21-01-2026</a:t>
            </a:fld>
            <a:endParaRPr lang="en-IN"/>
          </a:p>
        </p:txBody>
      </p:sp>
      <p:sp>
        <p:nvSpPr>
          <p:cNvPr id="4" name="Footer Placeholder 3">
            <a:extLst>
              <a:ext uri="{FF2B5EF4-FFF2-40B4-BE49-F238E27FC236}">
                <a16:creationId xmlns:a16="http://schemas.microsoft.com/office/drawing/2014/main" id="{5FAAACED-4335-FD7B-E7DB-4D3F617CCBC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5D95CE8-138F-EF89-0156-9871B99BDC13}"/>
              </a:ext>
            </a:extLst>
          </p:cNvPr>
          <p:cNvSpPr>
            <a:spLocks noGrp="1"/>
          </p:cNvSpPr>
          <p:nvPr>
            <p:ph type="sldNum" sz="quarter" idx="12"/>
          </p:nvPr>
        </p:nvSpPr>
        <p:spPr/>
        <p:txBody>
          <a:bodyPr/>
          <a:lstStyle/>
          <a:p>
            <a:fld id="{F9C287E7-D6FB-40D4-8C19-4B811C2075C9}" type="slidenum">
              <a:rPr lang="en-IN" smtClean="0"/>
              <a:t>‹#›</a:t>
            </a:fld>
            <a:endParaRPr lang="en-IN"/>
          </a:p>
        </p:txBody>
      </p:sp>
    </p:spTree>
    <p:extLst>
      <p:ext uri="{BB962C8B-B14F-4D97-AF65-F5344CB8AC3E}">
        <p14:creationId xmlns:p14="http://schemas.microsoft.com/office/powerpoint/2010/main" val="3547443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674C78-8BEB-F1D3-6EAE-29BF3B67EE02}"/>
              </a:ext>
            </a:extLst>
          </p:cNvPr>
          <p:cNvSpPr>
            <a:spLocks noGrp="1"/>
          </p:cNvSpPr>
          <p:nvPr>
            <p:ph type="dt" sz="half" idx="10"/>
          </p:nvPr>
        </p:nvSpPr>
        <p:spPr/>
        <p:txBody>
          <a:bodyPr/>
          <a:lstStyle/>
          <a:p>
            <a:fld id="{62F55175-990D-4A3F-9D9A-ECC5F3FBED8F}" type="datetimeFigureOut">
              <a:rPr lang="en-IN" smtClean="0"/>
              <a:t>21-01-2026</a:t>
            </a:fld>
            <a:endParaRPr lang="en-IN"/>
          </a:p>
        </p:txBody>
      </p:sp>
      <p:sp>
        <p:nvSpPr>
          <p:cNvPr id="3" name="Footer Placeholder 2">
            <a:extLst>
              <a:ext uri="{FF2B5EF4-FFF2-40B4-BE49-F238E27FC236}">
                <a16:creationId xmlns:a16="http://schemas.microsoft.com/office/drawing/2014/main" id="{1CBA74A4-EC13-3501-3CB4-51CF670657E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DBC7BC5-74FE-2D00-7413-9FC7CA132C44}"/>
              </a:ext>
            </a:extLst>
          </p:cNvPr>
          <p:cNvSpPr>
            <a:spLocks noGrp="1"/>
          </p:cNvSpPr>
          <p:nvPr>
            <p:ph type="sldNum" sz="quarter" idx="12"/>
          </p:nvPr>
        </p:nvSpPr>
        <p:spPr/>
        <p:txBody>
          <a:bodyPr/>
          <a:lstStyle/>
          <a:p>
            <a:fld id="{F9C287E7-D6FB-40D4-8C19-4B811C2075C9}" type="slidenum">
              <a:rPr lang="en-IN" smtClean="0"/>
              <a:t>‹#›</a:t>
            </a:fld>
            <a:endParaRPr lang="en-IN"/>
          </a:p>
        </p:txBody>
      </p:sp>
    </p:spTree>
    <p:extLst>
      <p:ext uri="{BB962C8B-B14F-4D97-AF65-F5344CB8AC3E}">
        <p14:creationId xmlns:p14="http://schemas.microsoft.com/office/powerpoint/2010/main" val="1858522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FA12B-FCBE-792D-F9E5-B80CE64DF0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104B589-072A-52B5-91D1-650FB04C42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A473DFD-D40B-7272-4852-B57AEB7BD1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4CCB382-C3E7-F238-842C-DDAAA4F0918F}"/>
              </a:ext>
            </a:extLst>
          </p:cNvPr>
          <p:cNvSpPr>
            <a:spLocks noGrp="1"/>
          </p:cNvSpPr>
          <p:nvPr>
            <p:ph type="dt" sz="half" idx="10"/>
          </p:nvPr>
        </p:nvSpPr>
        <p:spPr/>
        <p:txBody>
          <a:bodyPr/>
          <a:lstStyle/>
          <a:p>
            <a:fld id="{62F55175-990D-4A3F-9D9A-ECC5F3FBED8F}" type="datetimeFigureOut">
              <a:rPr lang="en-IN" smtClean="0"/>
              <a:t>21-01-2026</a:t>
            </a:fld>
            <a:endParaRPr lang="en-IN"/>
          </a:p>
        </p:txBody>
      </p:sp>
      <p:sp>
        <p:nvSpPr>
          <p:cNvPr id="6" name="Footer Placeholder 5">
            <a:extLst>
              <a:ext uri="{FF2B5EF4-FFF2-40B4-BE49-F238E27FC236}">
                <a16:creationId xmlns:a16="http://schemas.microsoft.com/office/drawing/2014/main" id="{CF4DF9BA-5945-3841-25CF-A78BF81320B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D6B724-3606-2E66-0838-6B039D2B25E0}"/>
              </a:ext>
            </a:extLst>
          </p:cNvPr>
          <p:cNvSpPr>
            <a:spLocks noGrp="1"/>
          </p:cNvSpPr>
          <p:nvPr>
            <p:ph type="sldNum" sz="quarter" idx="12"/>
          </p:nvPr>
        </p:nvSpPr>
        <p:spPr/>
        <p:txBody>
          <a:bodyPr/>
          <a:lstStyle/>
          <a:p>
            <a:fld id="{F9C287E7-D6FB-40D4-8C19-4B811C2075C9}" type="slidenum">
              <a:rPr lang="en-IN" smtClean="0"/>
              <a:t>‹#›</a:t>
            </a:fld>
            <a:endParaRPr lang="en-IN"/>
          </a:p>
        </p:txBody>
      </p:sp>
    </p:spTree>
    <p:extLst>
      <p:ext uri="{BB962C8B-B14F-4D97-AF65-F5344CB8AC3E}">
        <p14:creationId xmlns:p14="http://schemas.microsoft.com/office/powerpoint/2010/main" val="3067120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933AF2-B692-5566-D9BC-1F105A672F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7B453FB-AAAF-9610-7D9F-F8500AB845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1F4AE85-3B1B-995A-F7A8-5C54848DDF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B1FC92-FC56-2A09-C069-A4DD6763AF2C}"/>
              </a:ext>
            </a:extLst>
          </p:cNvPr>
          <p:cNvSpPr>
            <a:spLocks noGrp="1"/>
          </p:cNvSpPr>
          <p:nvPr>
            <p:ph type="dt" sz="half" idx="10"/>
          </p:nvPr>
        </p:nvSpPr>
        <p:spPr/>
        <p:txBody>
          <a:bodyPr/>
          <a:lstStyle/>
          <a:p>
            <a:fld id="{62F55175-990D-4A3F-9D9A-ECC5F3FBED8F}" type="datetimeFigureOut">
              <a:rPr lang="en-IN" smtClean="0"/>
              <a:t>21-01-2026</a:t>
            </a:fld>
            <a:endParaRPr lang="en-IN"/>
          </a:p>
        </p:txBody>
      </p:sp>
      <p:sp>
        <p:nvSpPr>
          <p:cNvPr id="6" name="Footer Placeholder 5">
            <a:extLst>
              <a:ext uri="{FF2B5EF4-FFF2-40B4-BE49-F238E27FC236}">
                <a16:creationId xmlns:a16="http://schemas.microsoft.com/office/drawing/2014/main" id="{BFCF615F-028B-B610-9F9C-AA912D4FCA8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F2AE84-B017-6943-A84F-B570C4303C7D}"/>
              </a:ext>
            </a:extLst>
          </p:cNvPr>
          <p:cNvSpPr>
            <a:spLocks noGrp="1"/>
          </p:cNvSpPr>
          <p:nvPr>
            <p:ph type="sldNum" sz="quarter" idx="12"/>
          </p:nvPr>
        </p:nvSpPr>
        <p:spPr/>
        <p:txBody>
          <a:bodyPr/>
          <a:lstStyle/>
          <a:p>
            <a:fld id="{F9C287E7-D6FB-40D4-8C19-4B811C2075C9}" type="slidenum">
              <a:rPr lang="en-IN" smtClean="0"/>
              <a:t>‹#›</a:t>
            </a:fld>
            <a:endParaRPr lang="en-IN"/>
          </a:p>
        </p:txBody>
      </p:sp>
    </p:spTree>
    <p:extLst>
      <p:ext uri="{BB962C8B-B14F-4D97-AF65-F5344CB8AC3E}">
        <p14:creationId xmlns:p14="http://schemas.microsoft.com/office/powerpoint/2010/main" val="2380165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5C554-60AD-56CA-FB87-54D8F0719B4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E624BD-4CD4-A35F-3D80-A605E74797E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D0132A3-2E37-4647-CFCB-481D0E24135E}"/>
              </a:ext>
            </a:extLst>
          </p:cNvPr>
          <p:cNvSpPr>
            <a:spLocks noGrp="1"/>
          </p:cNvSpPr>
          <p:nvPr>
            <p:ph type="dt" sz="half" idx="10"/>
          </p:nvPr>
        </p:nvSpPr>
        <p:spPr/>
        <p:txBody>
          <a:bodyPr/>
          <a:lstStyle/>
          <a:p>
            <a:fld id="{62F55175-990D-4A3F-9D9A-ECC5F3FBED8F}" type="datetimeFigureOut">
              <a:rPr lang="en-IN" smtClean="0"/>
              <a:t>21-01-2026</a:t>
            </a:fld>
            <a:endParaRPr lang="en-IN"/>
          </a:p>
        </p:txBody>
      </p:sp>
      <p:sp>
        <p:nvSpPr>
          <p:cNvPr id="5" name="Footer Placeholder 4">
            <a:extLst>
              <a:ext uri="{FF2B5EF4-FFF2-40B4-BE49-F238E27FC236}">
                <a16:creationId xmlns:a16="http://schemas.microsoft.com/office/drawing/2014/main" id="{14159235-7866-BB3D-9653-F1C1DF7E81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66EB34D-6602-9557-A297-F43B9734F9B9}"/>
              </a:ext>
            </a:extLst>
          </p:cNvPr>
          <p:cNvSpPr>
            <a:spLocks noGrp="1"/>
          </p:cNvSpPr>
          <p:nvPr>
            <p:ph type="sldNum" sz="quarter" idx="12"/>
          </p:nvPr>
        </p:nvSpPr>
        <p:spPr/>
        <p:txBody>
          <a:bodyPr/>
          <a:lstStyle/>
          <a:p>
            <a:fld id="{F9C287E7-D6FB-40D4-8C19-4B811C2075C9}" type="slidenum">
              <a:rPr lang="en-IN" smtClean="0"/>
              <a:t>‹#›</a:t>
            </a:fld>
            <a:endParaRPr lang="en-IN"/>
          </a:p>
        </p:txBody>
      </p:sp>
    </p:spTree>
    <p:extLst>
      <p:ext uri="{BB962C8B-B14F-4D97-AF65-F5344CB8AC3E}">
        <p14:creationId xmlns:p14="http://schemas.microsoft.com/office/powerpoint/2010/main" val="3387806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686514C-073C-D908-8A00-F591CC31A59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58E551E-0E0D-165F-2249-063D36FF72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BFBD702-09BA-071B-2AEC-0DD47B344539}"/>
              </a:ext>
            </a:extLst>
          </p:cNvPr>
          <p:cNvSpPr>
            <a:spLocks noGrp="1"/>
          </p:cNvSpPr>
          <p:nvPr>
            <p:ph type="dt" sz="half" idx="10"/>
          </p:nvPr>
        </p:nvSpPr>
        <p:spPr/>
        <p:txBody>
          <a:bodyPr/>
          <a:lstStyle/>
          <a:p>
            <a:fld id="{62F55175-990D-4A3F-9D9A-ECC5F3FBED8F}" type="datetimeFigureOut">
              <a:rPr lang="en-IN" smtClean="0"/>
              <a:t>21-01-2026</a:t>
            </a:fld>
            <a:endParaRPr lang="en-IN"/>
          </a:p>
        </p:txBody>
      </p:sp>
      <p:sp>
        <p:nvSpPr>
          <p:cNvPr id="5" name="Footer Placeholder 4">
            <a:extLst>
              <a:ext uri="{FF2B5EF4-FFF2-40B4-BE49-F238E27FC236}">
                <a16:creationId xmlns:a16="http://schemas.microsoft.com/office/drawing/2014/main" id="{F3BDA642-BDEF-9DA6-A81E-DB4915B98C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BBF7C0-7F59-B381-681E-545242DABA95}"/>
              </a:ext>
            </a:extLst>
          </p:cNvPr>
          <p:cNvSpPr>
            <a:spLocks noGrp="1"/>
          </p:cNvSpPr>
          <p:nvPr>
            <p:ph type="sldNum" sz="quarter" idx="12"/>
          </p:nvPr>
        </p:nvSpPr>
        <p:spPr/>
        <p:txBody>
          <a:bodyPr/>
          <a:lstStyle/>
          <a:p>
            <a:fld id="{F9C287E7-D6FB-40D4-8C19-4B811C2075C9}" type="slidenum">
              <a:rPr lang="en-IN" smtClean="0"/>
              <a:t>‹#›</a:t>
            </a:fld>
            <a:endParaRPr lang="en-IN"/>
          </a:p>
        </p:txBody>
      </p:sp>
    </p:spTree>
    <p:extLst>
      <p:ext uri="{BB962C8B-B14F-4D97-AF65-F5344CB8AC3E}">
        <p14:creationId xmlns:p14="http://schemas.microsoft.com/office/powerpoint/2010/main" val="3158534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624C7D2-93E1-8625-13D7-53E2189A2E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E268E9-70EC-5A4A-FA83-263A86218BF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ABCCF5-977B-DF7D-EE39-30E0CC6802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F55175-990D-4A3F-9D9A-ECC5F3FBED8F}" type="datetimeFigureOut">
              <a:rPr lang="en-IN" smtClean="0"/>
              <a:t>21-01-2026</a:t>
            </a:fld>
            <a:endParaRPr lang="en-IN"/>
          </a:p>
        </p:txBody>
      </p:sp>
      <p:sp>
        <p:nvSpPr>
          <p:cNvPr id="5" name="Footer Placeholder 4">
            <a:extLst>
              <a:ext uri="{FF2B5EF4-FFF2-40B4-BE49-F238E27FC236}">
                <a16:creationId xmlns:a16="http://schemas.microsoft.com/office/drawing/2014/main" id="{DB017993-C08E-A01B-56F2-75A891A7E8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D556BF86-D7A3-3E22-8AA1-A389BDBF518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C287E7-D6FB-40D4-8C19-4B811C2075C9}" type="slidenum">
              <a:rPr lang="en-IN" smtClean="0"/>
              <a:t>‹#›</a:t>
            </a:fld>
            <a:endParaRPr lang="en-IN"/>
          </a:p>
        </p:txBody>
      </p:sp>
    </p:spTree>
    <p:extLst>
      <p:ext uri="{BB962C8B-B14F-4D97-AF65-F5344CB8AC3E}">
        <p14:creationId xmlns:p14="http://schemas.microsoft.com/office/powerpoint/2010/main" val="9134066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doi.org/10.3390/app10144916" TargetMode="External"/><Relationship Id="rId7" Type="http://schemas.openxmlformats.org/officeDocument/2006/relationships/hyperlink" Target="https://doi.org/10.1016/j.neucom.2020.04.122" TargetMode="External"/><Relationship Id="rId2" Type="http://schemas.openxmlformats.org/officeDocument/2006/relationships/hyperlink" Target="https://doi.org/10.1186/s12911-019-0842-8" TargetMode="External"/><Relationship Id="rId1" Type="http://schemas.openxmlformats.org/officeDocument/2006/relationships/slideLayout" Target="../slideLayouts/slideLayout2.xml"/><Relationship Id="rId6" Type="http://schemas.openxmlformats.org/officeDocument/2006/relationships/hyperlink" Target="https://doi.org/10.1111/aos.14193" TargetMode="External"/><Relationship Id="rId5" Type="http://schemas.openxmlformats.org/officeDocument/2006/relationships/hyperlink" Target="https://doi.org/10.1109/TMI.2019.2927226" TargetMode="External"/><Relationship Id="rId4" Type="http://schemas.openxmlformats.org/officeDocument/2006/relationships/hyperlink" Target="https://doi.org/10.1155/2021/4494447"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3CA0E-D5A7-528D-8DFE-A62407131BAB}"/>
              </a:ext>
            </a:extLst>
          </p:cNvPr>
          <p:cNvSpPr>
            <a:spLocks noGrp="1"/>
          </p:cNvSpPr>
          <p:nvPr>
            <p:ph type="ctrTitle"/>
          </p:nvPr>
        </p:nvSpPr>
        <p:spPr>
          <a:xfrm>
            <a:off x="1524000" y="1854199"/>
            <a:ext cx="9144000" cy="1655763"/>
          </a:xfrm>
        </p:spPr>
        <p:txBody>
          <a:bodyPr>
            <a:normAutofit/>
          </a:bodyPr>
          <a:lstStyle/>
          <a:p>
            <a:r>
              <a:rPr lang="en-US" sz="4000" dirty="0"/>
              <a:t>Glaucoma Detection using Multi-task U-Net</a:t>
            </a:r>
            <a:br>
              <a:rPr lang="en-US" sz="4000" dirty="0"/>
            </a:br>
            <a:r>
              <a:rPr lang="en-US" sz="4000" dirty="0"/>
              <a:t>D-15</a:t>
            </a:r>
            <a:endParaRPr lang="en-IN" dirty="0"/>
          </a:p>
        </p:txBody>
      </p:sp>
      <p:sp>
        <p:nvSpPr>
          <p:cNvPr id="4" name="Subtitle 2">
            <a:extLst>
              <a:ext uri="{FF2B5EF4-FFF2-40B4-BE49-F238E27FC236}">
                <a16:creationId xmlns:a16="http://schemas.microsoft.com/office/drawing/2014/main" id="{1D77A5DB-96B0-8045-3839-8541B18F8F45}"/>
              </a:ext>
            </a:extLst>
          </p:cNvPr>
          <p:cNvSpPr>
            <a:spLocks noGrp="1"/>
          </p:cNvSpPr>
          <p:nvPr>
            <p:ph type="subTitle" idx="1"/>
          </p:nvPr>
        </p:nvSpPr>
        <p:spPr>
          <a:xfrm>
            <a:off x="1524000" y="3602038"/>
            <a:ext cx="9144000" cy="1655762"/>
          </a:xfrm>
        </p:spPr>
        <p:txBody>
          <a:bodyPr>
            <a:normAutofit lnSpcReduction="10000"/>
          </a:bodyPr>
          <a:lstStyle/>
          <a:p>
            <a:pPr marL="342900" indent="-342900">
              <a:buFont typeface="Arial" panose="020B0604020202020204" pitchFamily="34" charset="0"/>
              <a:buChar char="•"/>
            </a:pPr>
            <a:r>
              <a:rPr lang="en-US" dirty="0" err="1"/>
              <a:t>Malapati</a:t>
            </a:r>
            <a:r>
              <a:rPr lang="en-US" dirty="0"/>
              <a:t> Kalyan Rohit 	– CB.SC.U4AIE23318</a:t>
            </a:r>
          </a:p>
          <a:p>
            <a:pPr marL="342900" indent="-342900">
              <a:buFont typeface="Arial" panose="020B0604020202020204" pitchFamily="34" charset="0"/>
              <a:buChar char="•"/>
            </a:pPr>
            <a:r>
              <a:rPr lang="en-US" dirty="0"/>
              <a:t>Renny Harlin D 		– CB.SC.U4AIE23334</a:t>
            </a:r>
          </a:p>
          <a:p>
            <a:pPr marL="342900" indent="-342900">
              <a:buFont typeface="Arial" panose="020B0604020202020204" pitchFamily="34" charset="0"/>
              <a:buChar char="•"/>
            </a:pPr>
            <a:r>
              <a:rPr lang="en-US" dirty="0"/>
              <a:t>Suganth K 			– CB.SC.U4AIE23340</a:t>
            </a:r>
          </a:p>
          <a:p>
            <a:pPr marL="342900" indent="-342900">
              <a:buFont typeface="Arial" panose="020B0604020202020204" pitchFamily="34" charset="0"/>
              <a:buChar char="•"/>
            </a:pPr>
            <a:r>
              <a:rPr lang="en-IN" dirty="0"/>
              <a:t>Tharunkumar S 		– CB.SC.U4AIE23343</a:t>
            </a:r>
          </a:p>
        </p:txBody>
      </p:sp>
    </p:spTree>
    <p:extLst>
      <p:ext uri="{BB962C8B-B14F-4D97-AF65-F5344CB8AC3E}">
        <p14:creationId xmlns:p14="http://schemas.microsoft.com/office/powerpoint/2010/main" val="17433425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04F3A-13B7-19BF-BCE3-0428CE7932AD}"/>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55A04C86-1454-C13A-41B4-8D362450D15D}"/>
              </a:ext>
            </a:extLst>
          </p:cNvPr>
          <p:cNvSpPr>
            <a:spLocks noGrp="1"/>
          </p:cNvSpPr>
          <p:nvPr>
            <p:ph idx="1"/>
          </p:nvPr>
        </p:nvSpPr>
        <p:spPr/>
        <p:txBody>
          <a:bodyPr>
            <a:normAutofit lnSpcReduction="10000"/>
          </a:bodyPr>
          <a:lstStyle/>
          <a:p>
            <a:r>
              <a:rPr lang="en-US" dirty="0"/>
              <a:t>What is Glaucoma ?</a:t>
            </a:r>
          </a:p>
          <a:p>
            <a:pPr lvl="1"/>
            <a:r>
              <a:rPr lang="en-US" dirty="0"/>
              <a:t>A chronic eye disease leading to irreversible blindness caused by optic nerve damage.</a:t>
            </a:r>
          </a:p>
          <a:p>
            <a:pPr lvl="1"/>
            <a:r>
              <a:rPr lang="en-US" dirty="0"/>
              <a:t>Characterized by "cupping," or the enlargement of the optic cup relative to the optic disc.</a:t>
            </a:r>
          </a:p>
          <a:p>
            <a:r>
              <a:rPr lang="en-US" dirty="0"/>
              <a:t>Clinical Metric</a:t>
            </a:r>
          </a:p>
          <a:p>
            <a:pPr lvl="1"/>
            <a:r>
              <a:rPr lang="en-US" dirty="0"/>
              <a:t>The standard diagnostic metric is the Cup-to-Disc Ratio (CDR).</a:t>
            </a:r>
          </a:p>
          <a:p>
            <a:r>
              <a:rPr lang="en-US" dirty="0"/>
              <a:t>Project Goal</a:t>
            </a:r>
          </a:p>
          <a:p>
            <a:pPr lvl="1"/>
            <a:r>
              <a:rPr lang="en-US" dirty="0"/>
              <a:t>To develop a comprehensive Multi-task U-Net framework optimized for the Drishti-GS1 dataset.</a:t>
            </a:r>
          </a:p>
          <a:p>
            <a:pPr lvl="1"/>
            <a:r>
              <a:rPr lang="en-US" dirty="0"/>
              <a:t>To emulate the clinical workflow by integrating segmentation maps directly into the screening pipeline</a:t>
            </a:r>
          </a:p>
          <a:p>
            <a:pPr lvl="1"/>
            <a:endParaRPr lang="en-IN" dirty="0"/>
          </a:p>
        </p:txBody>
      </p:sp>
    </p:spTree>
    <p:extLst>
      <p:ext uri="{BB962C8B-B14F-4D97-AF65-F5344CB8AC3E}">
        <p14:creationId xmlns:p14="http://schemas.microsoft.com/office/powerpoint/2010/main" val="5780747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60B912-409B-32C8-C881-7ACF9D3AC009}"/>
              </a:ext>
            </a:extLst>
          </p:cNvPr>
          <p:cNvSpPr>
            <a:spLocks noGrp="1"/>
          </p:cNvSpPr>
          <p:nvPr>
            <p:ph type="title"/>
          </p:nvPr>
        </p:nvSpPr>
        <p:spPr/>
        <p:txBody>
          <a:bodyPr/>
          <a:lstStyle/>
          <a:p>
            <a:r>
              <a:rPr lang="en-US" dirty="0"/>
              <a:t>Literature Review</a:t>
            </a:r>
            <a:endParaRPr lang="en-IN" dirty="0"/>
          </a:p>
        </p:txBody>
      </p:sp>
      <p:graphicFrame>
        <p:nvGraphicFramePr>
          <p:cNvPr id="4" name="Content Placeholder 3">
            <a:extLst>
              <a:ext uri="{FF2B5EF4-FFF2-40B4-BE49-F238E27FC236}">
                <a16:creationId xmlns:a16="http://schemas.microsoft.com/office/drawing/2014/main" id="{318DAEA1-97A2-A18F-9BD0-29D60A9F6FCA}"/>
              </a:ext>
            </a:extLst>
          </p:cNvPr>
          <p:cNvGraphicFramePr>
            <a:graphicFrameLocks noGrp="1"/>
          </p:cNvGraphicFramePr>
          <p:nvPr>
            <p:ph idx="1"/>
            <p:extLst>
              <p:ext uri="{D42A27DB-BD31-4B8C-83A1-F6EECF244321}">
                <p14:modId xmlns:p14="http://schemas.microsoft.com/office/powerpoint/2010/main" val="448674218"/>
              </p:ext>
            </p:extLst>
          </p:nvPr>
        </p:nvGraphicFramePr>
        <p:xfrm>
          <a:off x="672084" y="1615947"/>
          <a:ext cx="10847832" cy="4876928"/>
        </p:xfrm>
        <a:graphic>
          <a:graphicData uri="http://schemas.openxmlformats.org/drawingml/2006/table">
            <a:tbl>
              <a:tblPr firstRow="1" bandRow="1">
                <a:tableStyleId>{5940675A-B579-460E-94D1-54222C63F5DA}</a:tableStyleId>
              </a:tblPr>
              <a:tblGrid>
                <a:gridCol w="2711958">
                  <a:extLst>
                    <a:ext uri="{9D8B030D-6E8A-4147-A177-3AD203B41FA5}">
                      <a16:colId xmlns:a16="http://schemas.microsoft.com/office/drawing/2014/main" val="4283704330"/>
                    </a:ext>
                  </a:extLst>
                </a:gridCol>
                <a:gridCol w="2711958">
                  <a:extLst>
                    <a:ext uri="{9D8B030D-6E8A-4147-A177-3AD203B41FA5}">
                      <a16:colId xmlns:a16="http://schemas.microsoft.com/office/drawing/2014/main" val="2049887640"/>
                    </a:ext>
                  </a:extLst>
                </a:gridCol>
                <a:gridCol w="2711958">
                  <a:extLst>
                    <a:ext uri="{9D8B030D-6E8A-4147-A177-3AD203B41FA5}">
                      <a16:colId xmlns:a16="http://schemas.microsoft.com/office/drawing/2014/main" val="2222747435"/>
                    </a:ext>
                  </a:extLst>
                </a:gridCol>
                <a:gridCol w="2711958">
                  <a:extLst>
                    <a:ext uri="{9D8B030D-6E8A-4147-A177-3AD203B41FA5}">
                      <a16:colId xmlns:a16="http://schemas.microsoft.com/office/drawing/2014/main" val="3502028524"/>
                    </a:ext>
                  </a:extLst>
                </a:gridCol>
              </a:tblGrid>
              <a:tr h="396368">
                <a:tc>
                  <a:txBody>
                    <a:bodyPr/>
                    <a:lstStyle/>
                    <a:p>
                      <a:pPr algn="ctr"/>
                      <a:r>
                        <a:rPr lang="en-US" dirty="0"/>
                        <a:t>Author</a:t>
                      </a:r>
                      <a:endParaRPr lang="en-IN" dirty="0"/>
                    </a:p>
                  </a:txBody>
                  <a:tcPr/>
                </a:tc>
                <a:tc>
                  <a:txBody>
                    <a:bodyPr/>
                    <a:lstStyle/>
                    <a:p>
                      <a:pPr algn="ctr"/>
                      <a:r>
                        <a:rPr lang="en-US" dirty="0"/>
                        <a:t>Method</a:t>
                      </a:r>
                      <a:endParaRPr lang="en-IN" dirty="0"/>
                    </a:p>
                  </a:txBody>
                  <a:tcPr/>
                </a:tc>
                <a:tc>
                  <a:txBody>
                    <a:bodyPr/>
                    <a:lstStyle/>
                    <a:p>
                      <a:pPr algn="ctr"/>
                      <a:r>
                        <a:rPr lang="en-US" dirty="0"/>
                        <a:t>Database</a:t>
                      </a:r>
                      <a:endParaRPr lang="en-IN" dirty="0"/>
                    </a:p>
                  </a:txBody>
                  <a:tcPr/>
                </a:tc>
                <a:tc>
                  <a:txBody>
                    <a:bodyPr/>
                    <a:lstStyle/>
                    <a:p>
                      <a:pPr algn="ctr"/>
                      <a:r>
                        <a:rPr lang="en-US" dirty="0"/>
                        <a:t>Remark</a:t>
                      </a:r>
                      <a:endParaRPr lang="en-IN" dirty="0"/>
                    </a:p>
                  </a:txBody>
                  <a:tcPr/>
                </a:tc>
                <a:extLst>
                  <a:ext uri="{0D108BD9-81ED-4DB2-BD59-A6C34878D82A}">
                    <a16:rowId xmlns:a16="http://schemas.microsoft.com/office/drawing/2014/main" val="3621598432"/>
                  </a:ext>
                </a:extLst>
              </a:tr>
              <a:tr h="643146">
                <a:tc>
                  <a:txBody>
                    <a:bodyPr/>
                    <a:lstStyle/>
                    <a:p>
                      <a:pPr algn="ctr"/>
                      <a:r>
                        <a:rPr lang="en-IN" dirty="0"/>
                        <a:t>Bajwa et al.</a:t>
                      </a:r>
                    </a:p>
                    <a:p>
                      <a:pPr algn="ctr"/>
                      <a:r>
                        <a:rPr lang="en-IN" dirty="0"/>
                        <a:t>2019</a:t>
                      </a:r>
                    </a:p>
                  </a:txBody>
                  <a:tcPr anchor="ctr"/>
                </a:tc>
                <a:tc>
                  <a:txBody>
                    <a:bodyPr/>
                    <a:lstStyle/>
                    <a:p>
                      <a:pPr algn="ctr"/>
                      <a:r>
                        <a:rPr lang="en-IN" dirty="0"/>
                        <a:t>Two-stage CNN-based classification</a:t>
                      </a:r>
                    </a:p>
                  </a:txBody>
                  <a:tcPr anchor="ctr"/>
                </a:tc>
                <a:tc>
                  <a:txBody>
                    <a:bodyPr/>
                    <a:lstStyle/>
                    <a:p>
                      <a:pPr algn="ctr"/>
                      <a:r>
                        <a:rPr lang="en-IN" dirty="0"/>
                        <a:t>ORIGA</a:t>
                      </a:r>
                    </a:p>
                  </a:txBody>
                  <a:tcPr anchor="ctr"/>
                </a:tc>
                <a:tc>
                  <a:txBody>
                    <a:bodyPr/>
                    <a:lstStyle/>
                    <a:p>
                      <a:pPr marL="285750" indent="-285750" algn="l">
                        <a:buFont typeface="Arial" panose="020B0604020202020204" pitchFamily="34" charset="0"/>
                        <a:buChar char="•"/>
                      </a:pPr>
                      <a:r>
                        <a:rPr lang="en-US" dirty="0"/>
                        <a:t>Lower sensitivity compared to later CNN models</a:t>
                      </a:r>
                    </a:p>
                    <a:p>
                      <a:pPr marL="285750" indent="-285750" algn="l">
                        <a:buFont typeface="Arial" panose="020B0604020202020204" pitchFamily="34" charset="0"/>
                        <a:buChar char="•"/>
                      </a:pPr>
                      <a:r>
                        <a:rPr lang="en-IN" dirty="0"/>
                        <a:t>Two-stage pipeline increases complexity</a:t>
                      </a:r>
                    </a:p>
                  </a:txBody>
                  <a:tcPr/>
                </a:tc>
                <a:extLst>
                  <a:ext uri="{0D108BD9-81ED-4DB2-BD59-A6C34878D82A}">
                    <a16:rowId xmlns:a16="http://schemas.microsoft.com/office/drawing/2014/main" val="280985295"/>
                  </a:ext>
                </a:extLst>
              </a:tr>
              <a:tr h="643146">
                <a:tc>
                  <a:txBody>
                    <a:bodyPr/>
                    <a:lstStyle/>
                    <a:p>
                      <a:pPr algn="ctr"/>
                      <a:r>
                        <a:rPr lang="en-IN" dirty="0"/>
                        <a:t>Sreng et al.</a:t>
                      </a:r>
                    </a:p>
                    <a:p>
                      <a:pPr algn="ctr"/>
                      <a:r>
                        <a:rPr lang="en-IN" dirty="0"/>
                        <a:t>2020</a:t>
                      </a:r>
                    </a:p>
                  </a:txBody>
                  <a:tcPr anchor="ctr"/>
                </a:tc>
                <a:tc>
                  <a:txBody>
                    <a:bodyPr/>
                    <a:lstStyle/>
                    <a:p>
                      <a:pPr algn="ctr"/>
                      <a:r>
                        <a:rPr lang="en-IN" dirty="0"/>
                        <a:t>CNN-based landmark detection</a:t>
                      </a:r>
                    </a:p>
                  </a:txBody>
                  <a:tcPr anchor="ctr"/>
                </a:tc>
                <a:tc>
                  <a:txBody>
                    <a:bodyPr/>
                    <a:lstStyle/>
                    <a:p>
                      <a:pPr algn="ctr"/>
                      <a:r>
                        <a:rPr lang="en-IN" dirty="0" err="1"/>
                        <a:t>Ophtha</a:t>
                      </a:r>
                      <a:r>
                        <a:rPr lang="en-IN" dirty="0"/>
                        <a:t>-EX</a:t>
                      </a:r>
                    </a:p>
                  </a:txBody>
                  <a:tcPr anchor="ctr"/>
                </a:tc>
                <a:tc>
                  <a:txBody>
                    <a:bodyPr/>
                    <a:lstStyle/>
                    <a:p>
                      <a:pPr marL="285750" indent="-285750" algn="l">
                        <a:buFont typeface="Arial" panose="020B0604020202020204" pitchFamily="34" charset="0"/>
                        <a:buChar char="•"/>
                      </a:pPr>
                      <a:r>
                        <a:rPr lang="en-US" dirty="0"/>
                        <a:t>Trained on limited data</a:t>
                      </a:r>
                    </a:p>
                    <a:p>
                      <a:pPr marL="285750" indent="-285750" algn="l">
                        <a:buFont typeface="Arial" panose="020B0604020202020204" pitchFamily="34" charset="0"/>
                        <a:buChar char="•"/>
                      </a:pPr>
                      <a:r>
                        <a:rPr lang="en-US" dirty="0"/>
                        <a:t>Unable to perform precise segmentation</a:t>
                      </a:r>
                      <a:endParaRPr lang="en-IN" dirty="0"/>
                    </a:p>
                  </a:txBody>
                  <a:tcPr/>
                </a:tc>
                <a:extLst>
                  <a:ext uri="{0D108BD9-81ED-4DB2-BD59-A6C34878D82A}">
                    <a16:rowId xmlns:a16="http://schemas.microsoft.com/office/drawing/2014/main" val="135951394"/>
                  </a:ext>
                </a:extLst>
              </a:tr>
              <a:tr h="643146">
                <a:tc>
                  <a:txBody>
                    <a:bodyPr/>
                    <a:lstStyle/>
                    <a:p>
                      <a:pPr algn="ctr"/>
                      <a:r>
                        <a:rPr lang="en-IN" dirty="0"/>
                        <a:t>Latif et al.</a:t>
                      </a:r>
                    </a:p>
                    <a:p>
                      <a:pPr algn="ctr"/>
                      <a:r>
                        <a:rPr lang="en-IN" dirty="0"/>
                        <a:t>2016</a:t>
                      </a:r>
                    </a:p>
                  </a:txBody>
                  <a:tcPr anchor="ctr"/>
                </a:tc>
                <a:tc>
                  <a:txBody>
                    <a:bodyPr/>
                    <a:lstStyle/>
                    <a:p>
                      <a:pPr algn="ctr"/>
                      <a:r>
                        <a:rPr lang="en-IN" dirty="0"/>
                        <a:t>CNN-based detection</a:t>
                      </a:r>
                    </a:p>
                  </a:txBody>
                  <a:tcPr anchor="ctr"/>
                </a:tc>
                <a:tc>
                  <a:txBody>
                    <a:bodyPr/>
                    <a:lstStyle/>
                    <a:p>
                      <a:pPr algn="ctr"/>
                      <a:r>
                        <a:rPr lang="en-IN" dirty="0"/>
                        <a:t>Exudate detection</a:t>
                      </a:r>
                    </a:p>
                  </a:txBody>
                  <a:tcPr anchor="ctr"/>
                </a:tc>
                <a:tc>
                  <a:txBody>
                    <a:bodyPr/>
                    <a:lstStyle/>
                    <a:p>
                      <a:pPr marL="285750" indent="-285750" algn="l">
                        <a:buFont typeface="Arial" panose="020B0604020202020204" pitchFamily="34" charset="0"/>
                        <a:buChar char="•"/>
                      </a:pPr>
                      <a:r>
                        <a:rPr lang="en-US" dirty="0"/>
                        <a:t>Small dataset</a:t>
                      </a:r>
                    </a:p>
                    <a:p>
                      <a:pPr marL="285750" indent="-285750" algn="l">
                        <a:buFont typeface="Arial" panose="020B0604020202020204" pitchFamily="34" charset="0"/>
                        <a:buChar char="•"/>
                      </a:pPr>
                      <a:r>
                        <a:rPr lang="en-US" dirty="0"/>
                        <a:t>Limited generalization capability</a:t>
                      </a:r>
                      <a:endParaRPr lang="en-IN" dirty="0"/>
                    </a:p>
                  </a:txBody>
                  <a:tcPr/>
                </a:tc>
                <a:extLst>
                  <a:ext uri="{0D108BD9-81ED-4DB2-BD59-A6C34878D82A}">
                    <a16:rowId xmlns:a16="http://schemas.microsoft.com/office/drawing/2014/main" val="4174395863"/>
                  </a:ext>
                </a:extLst>
              </a:tr>
              <a:tr h="643146">
                <a:tc>
                  <a:txBody>
                    <a:bodyPr/>
                    <a:lstStyle/>
                    <a:p>
                      <a:pPr algn="ctr"/>
                      <a:r>
                        <a:rPr lang="en-IN" dirty="0"/>
                        <a:t>Li et al.</a:t>
                      </a:r>
                    </a:p>
                    <a:p>
                      <a:pPr algn="ctr"/>
                      <a:r>
                        <a:rPr lang="en-IN" dirty="0"/>
                        <a:t>2018</a:t>
                      </a:r>
                    </a:p>
                  </a:txBody>
                  <a:tcPr anchor="ctr"/>
                </a:tc>
                <a:tc>
                  <a:txBody>
                    <a:bodyPr/>
                    <a:lstStyle/>
                    <a:p>
                      <a:pPr algn="ctr"/>
                      <a:r>
                        <a:rPr lang="en-US" dirty="0"/>
                        <a:t>Fully Convolutional Residual Network (FCRN)</a:t>
                      </a:r>
                      <a:endParaRPr lang="en-IN" dirty="0"/>
                    </a:p>
                  </a:txBody>
                  <a:tcPr anchor="ctr"/>
                </a:tc>
                <a:tc>
                  <a:txBody>
                    <a:bodyPr/>
                    <a:lstStyle/>
                    <a:p>
                      <a:pPr algn="ctr"/>
                      <a:r>
                        <a:rPr lang="en-IN" dirty="0"/>
                        <a:t>HEI-MED, e-</a:t>
                      </a:r>
                      <a:r>
                        <a:rPr lang="en-IN" dirty="0" err="1"/>
                        <a:t>Ophtha</a:t>
                      </a:r>
                      <a:r>
                        <a:rPr lang="en-IN" dirty="0"/>
                        <a:t> EX</a:t>
                      </a:r>
                    </a:p>
                  </a:txBody>
                  <a:tcPr anchor="ctr"/>
                </a:tc>
                <a:tc>
                  <a:txBody>
                    <a:bodyPr/>
                    <a:lstStyle/>
                    <a:p>
                      <a:pPr marL="285750" indent="-285750" algn="l">
                        <a:buFont typeface="Arial" panose="020B0604020202020204" pitchFamily="34" charset="0"/>
                        <a:buChar char="•"/>
                      </a:pPr>
                      <a:r>
                        <a:rPr lang="en-US" dirty="0"/>
                        <a:t>Image resolution constraints</a:t>
                      </a:r>
                    </a:p>
                    <a:p>
                      <a:pPr marL="285750" indent="-285750" algn="l">
                        <a:buFont typeface="Arial" panose="020B0604020202020204" pitchFamily="34" charset="0"/>
                        <a:buChar char="•"/>
                      </a:pPr>
                      <a:r>
                        <a:rPr lang="en-US" dirty="0"/>
                        <a:t>High computational cost</a:t>
                      </a:r>
                      <a:endParaRPr lang="en-IN" dirty="0"/>
                    </a:p>
                  </a:txBody>
                  <a:tcPr/>
                </a:tc>
                <a:extLst>
                  <a:ext uri="{0D108BD9-81ED-4DB2-BD59-A6C34878D82A}">
                    <a16:rowId xmlns:a16="http://schemas.microsoft.com/office/drawing/2014/main" val="2671537042"/>
                  </a:ext>
                </a:extLst>
              </a:tr>
            </a:tbl>
          </a:graphicData>
        </a:graphic>
      </p:graphicFrame>
    </p:spTree>
    <p:extLst>
      <p:ext uri="{BB962C8B-B14F-4D97-AF65-F5344CB8AC3E}">
        <p14:creationId xmlns:p14="http://schemas.microsoft.com/office/powerpoint/2010/main" val="88100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DC3D1-CD96-5684-6DEF-220A539D53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4BB924-973F-A2B6-6518-F21DC39CE95C}"/>
              </a:ext>
            </a:extLst>
          </p:cNvPr>
          <p:cNvSpPr>
            <a:spLocks noGrp="1"/>
          </p:cNvSpPr>
          <p:nvPr>
            <p:ph type="title"/>
          </p:nvPr>
        </p:nvSpPr>
        <p:spPr/>
        <p:txBody>
          <a:bodyPr/>
          <a:lstStyle/>
          <a:p>
            <a:r>
              <a:rPr lang="en-US" dirty="0"/>
              <a:t>Literature Review</a:t>
            </a:r>
            <a:endParaRPr lang="en-IN" dirty="0"/>
          </a:p>
        </p:txBody>
      </p:sp>
      <p:graphicFrame>
        <p:nvGraphicFramePr>
          <p:cNvPr id="4" name="Content Placeholder 3">
            <a:extLst>
              <a:ext uri="{FF2B5EF4-FFF2-40B4-BE49-F238E27FC236}">
                <a16:creationId xmlns:a16="http://schemas.microsoft.com/office/drawing/2014/main" id="{06793692-3177-8B7D-27CF-6B42B78921D9}"/>
              </a:ext>
            </a:extLst>
          </p:cNvPr>
          <p:cNvGraphicFramePr>
            <a:graphicFrameLocks noGrp="1"/>
          </p:cNvGraphicFramePr>
          <p:nvPr>
            <p:ph idx="1"/>
            <p:extLst>
              <p:ext uri="{D42A27DB-BD31-4B8C-83A1-F6EECF244321}">
                <p14:modId xmlns:p14="http://schemas.microsoft.com/office/powerpoint/2010/main" val="2810754178"/>
              </p:ext>
            </p:extLst>
          </p:nvPr>
        </p:nvGraphicFramePr>
        <p:xfrm>
          <a:off x="672084" y="1615947"/>
          <a:ext cx="10847832" cy="2499488"/>
        </p:xfrm>
        <a:graphic>
          <a:graphicData uri="http://schemas.openxmlformats.org/drawingml/2006/table">
            <a:tbl>
              <a:tblPr firstRow="1" bandRow="1">
                <a:tableStyleId>{5940675A-B579-460E-94D1-54222C63F5DA}</a:tableStyleId>
              </a:tblPr>
              <a:tblGrid>
                <a:gridCol w="2711958">
                  <a:extLst>
                    <a:ext uri="{9D8B030D-6E8A-4147-A177-3AD203B41FA5}">
                      <a16:colId xmlns:a16="http://schemas.microsoft.com/office/drawing/2014/main" val="4283704330"/>
                    </a:ext>
                  </a:extLst>
                </a:gridCol>
                <a:gridCol w="2711958">
                  <a:extLst>
                    <a:ext uri="{9D8B030D-6E8A-4147-A177-3AD203B41FA5}">
                      <a16:colId xmlns:a16="http://schemas.microsoft.com/office/drawing/2014/main" val="2049887640"/>
                    </a:ext>
                  </a:extLst>
                </a:gridCol>
                <a:gridCol w="2711958">
                  <a:extLst>
                    <a:ext uri="{9D8B030D-6E8A-4147-A177-3AD203B41FA5}">
                      <a16:colId xmlns:a16="http://schemas.microsoft.com/office/drawing/2014/main" val="2222747435"/>
                    </a:ext>
                  </a:extLst>
                </a:gridCol>
                <a:gridCol w="2711958">
                  <a:extLst>
                    <a:ext uri="{9D8B030D-6E8A-4147-A177-3AD203B41FA5}">
                      <a16:colId xmlns:a16="http://schemas.microsoft.com/office/drawing/2014/main" val="3502028524"/>
                    </a:ext>
                  </a:extLst>
                </a:gridCol>
              </a:tblGrid>
              <a:tr h="396368">
                <a:tc>
                  <a:txBody>
                    <a:bodyPr/>
                    <a:lstStyle/>
                    <a:p>
                      <a:pPr algn="ctr"/>
                      <a:r>
                        <a:rPr lang="en-US" dirty="0"/>
                        <a:t>Author</a:t>
                      </a:r>
                      <a:endParaRPr lang="en-IN" dirty="0"/>
                    </a:p>
                  </a:txBody>
                  <a:tcPr/>
                </a:tc>
                <a:tc>
                  <a:txBody>
                    <a:bodyPr/>
                    <a:lstStyle/>
                    <a:p>
                      <a:pPr algn="ctr"/>
                      <a:r>
                        <a:rPr lang="en-US" dirty="0"/>
                        <a:t>Method</a:t>
                      </a:r>
                      <a:endParaRPr lang="en-IN" dirty="0"/>
                    </a:p>
                  </a:txBody>
                  <a:tcPr/>
                </a:tc>
                <a:tc>
                  <a:txBody>
                    <a:bodyPr/>
                    <a:lstStyle/>
                    <a:p>
                      <a:pPr algn="ctr"/>
                      <a:r>
                        <a:rPr lang="en-US" dirty="0"/>
                        <a:t>Database</a:t>
                      </a:r>
                      <a:endParaRPr lang="en-IN" dirty="0"/>
                    </a:p>
                  </a:txBody>
                  <a:tcPr/>
                </a:tc>
                <a:tc>
                  <a:txBody>
                    <a:bodyPr/>
                    <a:lstStyle/>
                    <a:p>
                      <a:pPr algn="ctr"/>
                      <a:r>
                        <a:rPr lang="en-US" dirty="0"/>
                        <a:t>Remark</a:t>
                      </a:r>
                      <a:endParaRPr lang="en-IN" dirty="0"/>
                    </a:p>
                  </a:txBody>
                  <a:tcPr/>
                </a:tc>
                <a:extLst>
                  <a:ext uri="{0D108BD9-81ED-4DB2-BD59-A6C34878D82A}">
                    <a16:rowId xmlns:a16="http://schemas.microsoft.com/office/drawing/2014/main" val="3621598432"/>
                  </a:ext>
                </a:extLst>
              </a:tr>
              <a:tr h="643146">
                <a:tc>
                  <a:txBody>
                    <a:bodyPr/>
                    <a:lstStyle/>
                    <a:p>
                      <a:pPr algn="ctr"/>
                      <a:r>
                        <a:rPr lang="en-IN" dirty="0" err="1"/>
                        <a:t>Hemelings</a:t>
                      </a:r>
                      <a:r>
                        <a:rPr lang="en-IN" dirty="0"/>
                        <a:t> et al.</a:t>
                      </a:r>
                    </a:p>
                    <a:p>
                      <a:pPr algn="ctr"/>
                      <a:r>
                        <a:rPr lang="en-IN" dirty="0"/>
                        <a:t>2019</a:t>
                      </a:r>
                    </a:p>
                  </a:txBody>
                  <a:tcPr anchor="ctr"/>
                </a:tc>
                <a:tc>
                  <a:txBody>
                    <a:bodyPr/>
                    <a:lstStyle/>
                    <a:p>
                      <a:pPr algn="ctr"/>
                      <a:r>
                        <a:rPr lang="en-US" dirty="0"/>
                        <a:t>Transfer learning with pre-trained CNN</a:t>
                      </a:r>
                      <a:endParaRPr lang="en-IN" dirty="0"/>
                    </a:p>
                  </a:txBody>
                  <a:tcPr anchor="ctr"/>
                </a:tc>
                <a:tc>
                  <a:txBody>
                    <a:bodyPr/>
                    <a:lstStyle/>
                    <a:p>
                      <a:pPr algn="ctr"/>
                      <a:r>
                        <a:rPr lang="en-IN" dirty="0"/>
                        <a:t>DIARETDB1, e-</a:t>
                      </a:r>
                      <a:r>
                        <a:rPr lang="en-IN" dirty="0" err="1"/>
                        <a:t>Ophtha</a:t>
                      </a:r>
                      <a:r>
                        <a:rPr lang="en-IN" dirty="0"/>
                        <a:t> EX</a:t>
                      </a:r>
                    </a:p>
                  </a:txBody>
                  <a:tcPr anchor="ctr"/>
                </a:tc>
                <a:tc>
                  <a:txBody>
                    <a:bodyPr/>
                    <a:lstStyle/>
                    <a:p>
                      <a:pPr marL="285750" indent="-285750" algn="l">
                        <a:buFont typeface="Arial" panose="020B0604020202020204" pitchFamily="34" charset="0"/>
                        <a:buChar char="•"/>
                      </a:pPr>
                      <a:r>
                        <a:rPr lang="en-US" dirty="0"/>
                        <a:t> Low sensitivity despite high accuracy</a:t>
                      </a:r>
                    </a:p>
                    <a:p>
                      <a:pPr marL="285750" indent="-285750" algn="l">
                        <a:buFont typeface="Arial" panose="020B0604020202020204" pitchFamily="34" charset="0"/>
                        <a:buChar char="•"/>
                      </a:pPr>
                      <a:r>
                        <a:rPr lang="en-US" dirty="0"/>
                        <a:t>Model stability issues</a:t>
                      </a:r>
                      <a:endParaRPr lang="en-IN" dirty="0"/>
                    </a:p>
                  </a:txBody>
                  <a:tcPr/>
                </a:tc>
                <a:extLst>
                  <a:ext uri="{0D108BD9-81ED-4DB2-BD59-A6C34878D82A}">
                    <a16:rowId xmlns:a16="http://schemas.microsoft.com/office/drawing/2014/main" val="280985295"/>
                  </a:ext>
                </a:extLst>
              </a:tr>
              <a:tr h="643146">
                <a:tc>
                  <a:txBody>
                    <a:bodyPr/>
                    <a:lstStyle/>
                    <a:p>
                      <a:pPr algn="ctr"/>
                      <a:r>
                        <a:rPr lang="en-IN" dirty="0"/>
                        <a:t>Zhao et al.</a:t>
                      </a:r>
                    </a:p>
                    <a:p>
                      <a:pPr algn="ctr"/>
                      <a:r>
                        <a:rPr lang="en-IN" dirty="0"/>
                        <a:t>2020</a:t>
                      </a:r>
                    </a:p>
                  </a:txBody>
                  <a:tcPr anchor="ctr"/>
                </a:tc>
                <a:tc>
                  <a:txBody>
                    <a:bodyPr/>
                    <a:lstStyle/>
                    <a:p>
                      <a:pPr algn="ctr"/>
                      <a:r>
                        <a:rPr lang="en-US" dirty="0"/>
                        <a:t>Residual network with supervised classifiers</a:t>
                      </a:r>
                      <a:endParaRPr lang="en-IN" dirty="0"/>
                    </a:p>
                  </a:txBody>
                  <a:tcPr anchor="ctr"/>
                </a:tc>
                <a:tc>
                  <a:txBody>
                    <a:bodyPr/>
                    <a:lstStyle/>
                    <a:p>
                      <a:pPr algn="ctr"/>
                      <a:r>
                        <a:rPr lang="en-IN" dirty="0"/>
                        <a:t>DIARETDB1, e-</a:t>
                      </a:r>
                      <a:r>
                        <a:rPr lang="en-IN" dirty="0" err="1"/>
                        <a:t>Ophtha</a:t>
                      </a:r>
                      <a:endParaRPr lang="en-IN" dirty="0"/>
                    </a:p>
                  </a:txBody>
                  <a:tcPr anchor="ctr"/>
                </a:tc>
                <a:tc>
                  <a:txBody>
                    <a:bodyPr/>
                    <a:lstStyle/>
                    <a:p>
                      <a:pPr marL="285750" indent="-285750" algn="l">
                        <a:buFont typeface="Arial" panose="020B0604020202020204" pitchFamily="34" charset="0"/>
                        <a:buChar char="•"/>
                      </a:pPr>
                      <a:r>
                        <a:rPr lang="en-US" dirty="0"/>
                        <a:t> Sensitive to learning rate selection</a:t>
                      </a:r>
                    </a:p>
                    <a:p>
                      <a:pPr marL="285750" indent="-285750" algn="l">
                        <a:buFont typeface="Arial" panose="020B0604020202020204" pitchFamily="34" charset="0"/>
                        <a:buChar char="•"/>
                      </a:pPr>
                      <a:r>
                        <a:rPr lang="en-US" dirty="0"/>
                        <a:t>Requires careful supervision</a:t>
                      </a:r>
                      <a:endParaRPr lang="en-IN" dirty="0"/>
                    </a:p>
                  </a:txBody>
                  <a:tcPr/>
                </a:tc>
                <a:extLst>
                  <a:ext uri="{0D108BD9-81ED-4DB2-BD59-A6C34878D82A}">
                    <a16:rowId xmlns:a16="http://schemas.microsoft.com/office/drawing/2014/main" val="135951394"/>
                  </a:ext>
                </a:extLst>
              </a:tr>
            </a:tbl>
          </a:graphicData>
        </a:graphic>
      </p:graphicFrame>
    </p:spTree>
    <p:extLst>
      <p:ext uri="{BB962C8B-B14F-4D97-AF65-F5344CB8AC3E}">
        <p14:creationId xmlns:p14="http://schemas.microsoft.com/office/powerpoint/2010/main" val="10703324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70E0B-14F9-77E6-129B-666444CEE6A7}"/>
              </a:ext>
            </a:extLst>
          </p:cNvPr>
          <p:cNvSpPr>
            <a:spLocks noGrp="1"/>
          </p:cNvSpPr>
          <p:nvPr>
            <p:ph type="title"/>
          </p:nvPr>
        </p:nvSpPr>
        <p:spPr/>
        <p:txBody>
          <a:bodyPr/>
          <a:lstStyle/>
          <a:p>
            <a:r>
              <a:rPr lang="en-US" dirty="0"/>
              <a:t>Input and Expected Output</a:t>
            </a:r>
            <a:endParaRPr lang="en-IN" dirty="0"/>
          </a:p>
        </p:txBody>
      </p:sp>
      <p:sp>
        <p:nvSpPr>
          <p:cNvPr id="3" name="Content Placeholder 2">
            <a:extLst>
              <a:ext uri="{FF2B5EF4-FFF2-40B4-BE49-F238E27FC236}">
                <a16:creationId xmlns:a16="http://schemas.microsoft.com/office/drawing/2014/main" id="{7CE241A1-2420-0C2F-7736-F61C3C453C53}"/>
              </a:ext>
            </a:extLst>
          </p:cNvPr>
          <p:cNvSpPr>
            <a:spLocks noGrp="1"/>
          </p:cNvSpPr>
          <p:nvPr>
            <p:ph idx="1"/>
          </p:nvPr>
        </p:nvSpPr>
        <p:spPr/>
        <p:txBody>
          <a:bodyPr/>
          <a:lstStyle/>
          <a:p>
            <a:r>
              <a:rPr lang="en-US" dirty="0"/>
              <a:t>Input data</a:t>
            </a:r>
          </a:p>
          <a:p>
            <a:pPr lvl="1"/>
            <a:r>
              <a:rPr lang="en-US" dirty="0"/>
              <a:t>Source: Retinal fundus images from the Drishti-GS1 dataset.</a:t>
            </a:r>
          </a:p>
          <a:p>
            <a:pPr lvl="1"/>
            <a:r>
              <a:rPr lang="en-US" dirty="0"/>
              <a:t>Preprocessing: Images are resized to 256x256 pixels and normalized.</a:t>
            </a:r>
          </a:p>
          <a:p>
            <a:r>
              <a:rPr lang="en-US" dirty="0"/>
              <a:t>Output data</a:t>
            </a:r>
          </a:p>
          <a:p>
            <a:pPr lvl="1"/>
            <a:r>
              <a:rPr lang="en-US" dirty="0"/>
              <a:t>Segmentation Masks: Pixel-wise masks for the Optic Cup and Optic Disc.</a:t>
            </a:r>
          </a:p>
          <a:p>
            <a:pPr lvl="1"/>
            <a:r>
              <a:rPr lang="en-IN" dirty="0"/>
              <a:t>Binary Classification: A probability score indicating "Glaucoma" or "Normal".</a:t>
            </a:r>
          </a:p>
          <a:p>
            <a:pPr lvl="1"/>
            <a:r>
              <a:rPr lang="en-US" dirty="0"/>
              <a:t>Clinical Metric: Automated calculation of the Cup-to-Disc Ratio (CDR) derived from the predicted masks.</a:t>
            </a:r>
          </a:p>
          <a:p>
            <a:pPr lvl="1"/>
            <a:endParaRPr lang="en-IN" dirty="0"/>
          </a:p>
        </p:txBody>
      </p:sp>
    </p:spTree>
    <p:extLst>
      <p:ext uri="{BB962C8B-B14F-4D97-AF65-F5344CB8AC3E}">
        <p14:creationId xmlns:p14="http://schemas.microsoft.com/office/powerpoint/2010/main" val="3701270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07D0AA-602D-9AF5-DDAA-DA50EBE059D9}"/>
              </a:ext>
            </a:extLst>
          </p:cNvPr>
          <p:cNvSpPr>
            <a:spLocks noGrp="1"/>
          </p:cNvSpPr>
          <p:nvPr>
            <p:ph type="title"/>
          </p:nvPr>
        </p:nvSpPr>
        <p:spPr/>
        <p:txBody>
          <a:bodyPr/>
          <a:lstStyle/>
          <a:p>
            <a:r>
              <a:rPr lang="en-US" dirty="0"/>
              <a:t>U-Net Architecture</a:t>
            </a:r>
            <a:endParaRPr lang="en-IN" dirty="0"/>
          </a:p>
        </p:txBody>
      </p:sp>
      <p:pic>
        <p:nvPicPr>
          <p:cNvPr id="7" name="Content Placeholder 6">
            <a:extLst>
              <a:ext uri="{FF2B5EF4-FFF2-40B4-BE49-F238E27FC236}">
                <a16:creationId xmlns:a16="http://schemas.microsoft.com/office/drawing/2014/main" id="{A958D228-F0E6-4626-C516-23E0034D6F88}"/>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l="3926" r="1905"/>
          <a:stretch>
            <a:fillRect/>
          </a:stretch>
        </p:blipFill>
        <p:spPr>
          <a:xfrm>
            <a:off x="365674" y="2093976"/>
            <a:ext cx="11460651" cy="3284155"/>
          </a:xfrm>
          <a:prstGeom prst="rect">
            <a:avLst/>
          </a:prstGeom>
        </p:spPr>
      </p:pic>
    </p:spTree>
    <p:extLst>
      <p:ext uri="{BB962C8B-B14F-4D97-AF65-F5344CB8AC3E}">
        <p14:creationId xmlns:p14="http://schemas.microsoft.com/office/powerpoint/2010/main" val="956537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048A87-A1E6-37C0-ADAF-F7AC189896F1}"/>
              </a:ext>
            </a:extLst>
          </p:cNvPr>
          <p:cNvSpPr>
            <a:spLocks noGrp="1"/>
          </p:cNvSpPr>
          <p:nvPr>
            <p:ph type="title"/>
          </p:nvPr>
        </p:nvSpPr>
        <p:spPr/>
        <p:txBody>
          <a:bodyPr/>
          <a:lstStyle/>
          <a:p>
            <a:r>
              <a:rPr lang="en-US" dirty="0"/>
              <a:t>Patience – Early stopping</a:t>
            </a:r>
            <a:endParaRPr lang="en-IN" dirty="0"/>
          </a:p>
        </p:txBody>
      </p:sp>
      <p:pic>
        <p:nvPicPr>
          <p:cNvPr id="9" name="Content Placeholder 8">
            <a:extLst>
              <a:ext uri="{FF2B5EF4-FFF2-40B4-BE49-F238E27FC236}">
                <a16:creationId xmlns:a16="http://schemas.microsoft.com/office/drawing/2014/main" id="{F7C803B5-80C1-0E80-2509-38B90912434E}"/>
              </a:ext>
            </a:extLst>
          </p:cNvPr>
          <p:cNvPicPr>
            <a:picLocks noGrp="1" noChangeAspect="1"/>
          </p:cNvPicPr>
          <p:nvPr>
            <p:ph idx="1"/>
          </p:nvPr>
        </p:nvPicPr>
        <p:blipFill>
          <a:blip r:embed="rId2"/>
          <a:srcRect t="2612" r="7339"/>
          <a:stretch>
            <a:fillRect/>
          </a:stretch>
        </p:blipFill>
        <p:spPr>
          <a:xfrm>
            <a:off x="1335024" y="1956555"/>
            <a:ext cx="4041648" cy="3936034"/>
          </a:xfrm>
          <a:prstGeom prst="rect">
            <a:avLst/>
          </a:prstGeom>
        </p:spPr>
      </p:pic>
      <p:pic>
        <p:nvPicPr>
          <p:cNvPr id="11" name="Picture 10">
            <a:extLst>
              <a:ext uri="{FF2B5EF4-FFF2-40B4-BE49-F238E27FC236}">
                <a16:creationId xmlns:a16="http://schemas.microsoft.com/office/drawing/2014/main" id="{EB6FD2AF-5EBB-35D1-B5E7-CDD304FCC86F}"/>
              </a:ext>
            </a:extLst>
          </p:cNvPr>
          <p:cNvPicPr>
            <a:picLocks noChangeAspect="1"/>
          </p:cNvPicPr>
          <p:nvPr/>
        </p:nvPicPr>
        <p:blipFill>
          <a:blip r:embed="rId3"/>
          <a:stretch>
            <a:fillRect/>
          </a:stretch>
        </p:blipFill>
        <p:spPr>
          <a:xfrm>
            <a:off x="6815330" y="1956555"/>
            <a:ext cx="3877216" cy="4048690"/>
          </a:xfrm>
          <a:prstGeom prst="rect">
            <a:avLst/>
          </a:prstGeom>
        </p:spPr>
      </p:pic>
    </p:spTree>
    <p:extLst>
      <p:ext uri="{BB962C8B-B14F-4D97-AF65-F5344CB8AC3E}">
        <p14:creationId xmlns:p14="http://schemas.microsoft.com/office/powerpoint/2010/main" val="698974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81C05-75B3-6D28-5E56-4A3F97F28EA2}"/>
              </a:ext>
            </a:extLst>
          </p:cNvPr>
          <p:cNvSpPr>
            <a:spLocks noGrp="1"/>
          </p:cNvSpPr>
          <p:nvPr>
            <p:ph type="title"/>
          </p:nvPr>
        </p:nvSpPr>
        <p:spPr/>
        <p:txBody>
          <a:bodyPr/>
          <a:lstStyle/>
          <a:p>
            <a:r>
              <a:rPr lang="en-US"/>
              <a:t>Results</a:t>
            </a:r>
            <a:endParaRPr lang="en-IN" dirty="0"/>
          </a:p>
        </p:txBody>
      </p:sp>
      <p:sp>
        <p:nvSpPr>
          <p:cNvPr id="3" name="Content Placeholder 2">
            <a:extLst>
              <a:ext uri="{FF2B5EF4-FFF2-40B4-BE49-F238E27FC236}">
                <a16:creationId xmlns:a16="http://schemas.microsoft.com/office/drawing/2014/main" id="{23777F46-A65D-FD80-53BA-07D0FAEAFA81}"/>
              </a:ext>
            </a:extLst>
          </p:cNvPr>
          <p:cNvSpPr>
            <a:spLocks noGrp="1"/>
          </p:cNvSpPr>
          <p:nvPr>
            <p:ph idx="1"/>
          </p:nvPr>
        </p:nvSpPr>
        <p:spPr/>
        <p:txBody>
          <a:bodyPr/>
          <a:lstStyle/>
          <a:p>
            <a:r>
              <a:rPr lang="en-US" dirty="0"/>
              <a:t>With early stopping,</a:t>
            </a:r>
          </a:p>
          <a:p>
            <a:endParaRPr lang="en-US" dirty="0"/>
          </a:p>
        </p:txBody>
      </p:sp>
      <p:pic>
        <p:nvPicPr>
          <p:cNvPr id="5" name="Picture 4">
            <a:extLst>
              <a:ext uri="{FF2B5EF4-FFF2-40B4-BE49-F238E27FC236}">
                <a16:creationId xmlns:a16="http://schemas.microsoft.com/office/drawing/2014/main" id="{DE3D84D2-79A5-09F9-49D4-BDA06C39E8B2}"/>
              </a:ext>
            </a:extLst>
          </p:cNvPr>
          <p:cNvPicPr>
            <a:picLocks noChangeAspect="1"/>
          </p:cNvPicPr>
          <p:nvPr/>
        </p:nvPicPr>
        <p:blipFill>
          <a:blip r:embed="rId2"/>
          <a:stretch>
            <a:fillRect/>
          </a:stretch>
        </p:blipFill>
        <p:spPr>
          <a:xfrm>
            <a:off x="2693490" y="2606100"/>
            <a:ext cx="6805020" cy="2798003"/>
          </a:xfrm>
          <a:prstGeom prst="rect">
            <a:avLst/>
          </a:prstGeom>
        </p:spPr>
      </p:pic>
    </p:spTree>
    <p:extLst>
      <p:ext uri="{BB962C8B-B14F-4D97-AF65-F5344CB8AC3E}">
        <p14:creationId xmlns:p14="http://schemas.microsoft.com/office/powerpoint/2010/main" val="5817560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ADB00-3C61-B46A-9437-632CC3625D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BD1676-9373-539C-A054-BE2C08062292}"/>
              </a:ext>
            </a:extLst>
          </p:cNvPr>
          <p:cNvSpPr>
            <a:spLocks noGrp="1"/>
          </p:cNvSpPr>
          <p:nvPr>
            <p:ph type="title"/>
          </p:nvPr>
        </p:nvSpPr>
        <p:spPr/>
        <p:txBody>
          <a:bodyPr/>
          <a:lstStyle/>
          <a:p>
            <a:r>
              <a:rPr lang="en-US"/>
              <a:t>Results</a:t>
            </a:r>
            <a:endParaRPr lang="en-IN" dirty="0"/>
          </a:p>
        </p:txBody>
      </p:sp>
      <p:sp>
        <p:nvSpPr>
          <p:cNvPr id="3" name="Content Placeholder 2">
            <a:extLst>
              <a:ext uri="{FF2B5EF4-FFF2-40B4-BE49-F238E27FC236}">
                <a16:creationId xmlns:a16="http://schemas.microsoft.com/office/drawing/2014/main" id="{0B769656-8962-2979-941F-205B98E3ACC5}"/>
              </a:ext>
            </a:extLst>
          </p:cNvPr>
          <p:cNvSpPr>
            <a:spLocks noGrp="1"/>
          </p:cNvSpPr>
          <p:nvPr>
            <p:ph idx="1"/>
          </p:nvPr>
        </p:nvSpPr>
        <p:spPr/>
        <p:txBody>
          <a:bodyPr/>
          <a:lstStyle/>
          <a:p>
            <a:r>
              <a:rPr lang="en-US" dirty="0"/>
              <a:t>Without early stopping,</a:t>
            </a:r>
          </a:p>
          <a:p>
            <a:endParaRPr lang="en-US" dirty="0"/>
          </a:p>
        </p:txBody>
      </p:sp>
      <p:pic>
        <p:nvPicPr>
          <p:cNvPr id="5" name="Picture 4">
            <a:extLst>
              <a:ext uri="{FF2B5EF4-FFF2-40B4-BE49-F238E27FC236}">
                <a16:creationId xmlns:a16="http://schemas.microsoft.com/office/drawing/2014/main" id="{864E1E93-5D13-182F-3844-C7CE3171C67C}"/>
              </a:ext>
            </a:extLst>
          </p:cNvPr>
          <p:cNvPicPr>
            <a:picLocks noChangeAspect="1"/>
          </p:cNvPicPr>
          <p:nvPr/>
        </p:nvPicPr>
        <p:blipFill>
          <a:blip r:embed="rId2"/>
          <a:stretch>
            <a:fillRect/>
          </a:stretch>
        </p:blipFill>
        <p:spPr>
          <a:xfrm>
            <a:off x="2832398" y="2208846"/>
            <a:ext cx="6527204" cy="3625026"/>
          </a:xfrm>
          <a:prstGeom prst="rect">
            <a:avLst/>
          </a:prstGeom>
        </p:spPr>
      </p:pic>
    </p:spTree>
    <p:extLst>
      <p:ext uri="{BB962C8B-B14F-4D97-AF65-F5344CB8AC3E}">
        <p14:creationId xmlns:p14="http://schemas.microsoft.com/office/powerpoint/2010/main" val="1035128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BC05C-FA7D-2615-F12F-187644CEA749}"/>
              </a:ext>
            </a:extLst>
          </p:cNvPr>
          <p:cNvSpPr>
            <a:spLocks noGrp="1"/>
          </p:cNvSpPr>
          <p:nvPr>
            <p:ph type="title"/>
          </p:nvPr>
        </p:nvSpPr>
        <p:spPr/>
        <p:txBody>
          <a:bodyPr/>
          <a:lstStyle/>
          <a:p>
            <a:r>
              <a:rPr lang="en-US" dirty="0"/>
              <a:t>Output</a:t>
            </a:r>
            <a:endParaRPr lang="en-IN" dirty="0"/>
          </a:p>
        </p:txBody>
      </p:sp>
      <p:pic>
        <p:nvPicPr>
          <p:cNvPr id="6" name="Content Placeholder 5">
            <a:extLst>
              <a:ext uri="{FF2B5EF4-FFF2-40B4-BE49-F238E27FC236}">
                <a16:creationId xmlns:a16="http://schemas.microsoft.com/office/drawing/2014/main" id="{E965EB30-931E-CB17-0FD0-2C4057E8360E}"/>
              </a:ext>
            </a:extLst>
          </p:cNvPr>
          <p:cNvPicPr>
            <a:picLocks noGrp="1" noChangeAspect="1"/>
          </p:cNvPicPr>
          <p:nvPr>
            <p:ph idx="1"/>
          </p:nvPr>
        </p:nvPicPr>
        <p:blipFill>
          <a:blip r:embed="rId2"/>
          <a:srcRect t="2595"/>
          <a:stretch>
            <a:fillRect/>
          </a:stretch>
        </p:blipFill>
        <p:spPr>
          <a:xfrm>
            <a:off x="1606693" y="1690688"/>
            <a:ext cx="8978613" cy="4238435"/>
          </a:xfrm>
          <a:prstGeom prst="rect">
            <a:avLst/>
          </a:prstGeom>
        </p:spPr>
      </p:pic>
    </p:spTree>
    <p:extLst>
      <p:ext uri="{BB962C8B-B14F-4D97-AF65-F5344CB8AC3E}">
        <p14:creationId xmlns:p14="http://schemas.microsoft.com/office/powerpoint/2010/main" val="2017815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61032-1DFD-1F44-B2D4-4FD0EB349B4B}"/>
              </a:ext>
            </a:extLst>
          </p:cNvPr>
          <p:cNvSpPr>
            <a:spLocks noGrp="1"/>
          </p:cNvSpPr>
          <p:nvPr>
            <p:ph type="title"/>
          </p:nvPr>
        </p:nvSpPr>
        <p:spPr/>
        <p:txBody>
          <a:bodyPr/>
          <a:lstStyle/>
          <a:p>
            <a:r>
              <a:rPr lang="en-US" dirty="0"/>
              <a:t>References</a:t>
            </a:r>
            <a:endParaRPr lang="en-IN" dirty="0"/>
          </a:p>
        </p:txBody>
      </p:sp>
      <p:sp>
        <p:nvSpPr>
          <p:cNvPr id="3" name="Content Placeholder 2">
            <a:extLst>
              <a:ext uri="{FF2B5EF4-FFF2-40B4-BE49-F238E27FC236}">
                <a16:creationId xmlns:a16="http://schemas.microsoft.com/office/drawing/2014/main" id="{81958656-7916-37B0-2696-D3C4AF92084E}"/>
              </a:ext>
            </a:extLst>
          </p:cNvPr>
          <p:cNvSpPr>
            <a:spLocks noGrp="1"/>
          </p:cNvSpPr>
          <p:nvPr>
            <p:ph idx="1"/>
          </p:nvPr>
        </p:nvSpPr>
        <p:spPr/>
        <p:txBody>
          <a:bodyPr>
            <a:normAutofit fontScale="92500" lnSpcReduction="10000"/>
          </a:bodyPr>
          <a:lstStyle/>
          <a:p>
            <a:pPr marL="514350" indent="-514350">
              <a:buFont typeface="+mj-lt"/>
              <a:buAutoNum type="arabicPeriod"/>
            </a:pPr>
            <a:r>
              <a:rPr lang="en-IN" sz="1600" dirty="0"/>
              <a:t>Bajwa, M.N., Malik, M.I., Siddiqui, S.A. et al. Two-stage framework for optic disc localization and glaucoma classification in retinal fundus images using deep learning. BMC Med Inform </a:t>
            </a:r>
            <a:r>
              <a:rPr lang="en-IN" sz="1600" dirty="0" err="1"/>
              <a:t>Decis</a:t>
            </a:r>
            <a:r>
              <a:rPr lang="en-IN" sz="1600" dirty="0"/>
              <a:t> Mak 19, 136 (2019). </a:t>
            </a:r>
            <a:r>
              <a:rPr lang="en-IN" sz="1600" dirty="0">
                <a:hlinkClick r:id="rId2"/>
              </a:rPr>
              <a:t>https://doi.org/10.1186/s12911-019-0842-8</a:t>
            </a:r>
            <a:endParaRPr lang="en-IN" sz="1600" dirty="0"/>
          </a:p>
          <a:p>
            <a:pPr marL="514350" indent="-514350">
              <a:buFont typeface="+mj-lt"/>
              <a:buAutoNum type="arabicPeriod"/>
            </a:pPr>
            <a:r>
              <a:rPr lang="en-IN" sz="1600" dirty="0"/>
              <a:t>Sreng, S.; </a:t>
            </a:r>
            <a:r>
              <a:rPr lang="en-IN" sz="1600" dirty="0" err="1"/>
              <a:t>Maneerat</a:t>
            </a:r>
            <a:r>
              <a:rPr lang="en-IN" sz="1600" dirty="0"/>
              <a:t>, N.; Hamamoto, K.; Win, K.Y. Deep Learning for Optic Disc Segmentation and Glaucoma Diagnosis on Retinal Images. Appl. Sci. 2020, 10, 4916. </a:t>
            </a:r>
            <a:r>
              <a:rPr lang="en-IN" sz="1600" dirty="0">
                <a:hlinkClick r:id="rId3"/>
              </a:rPr>
              <a:t>https://doi.org/10.3390/app10144916</a:t>
            </a:r>
            <a:endParaRPr lang="en-IN" sz="1600" dirty="0"/>
          </a:p>
          <a:p>
            <a:pPr marL="514350" indent="-514350">
              <a:buFont typeface="+mj-lt"/>
              <a:buAutoNum type="arabicPeriod"/>
            </a:pPr>
            <a:r>
              <a:rPr lang="en-IN" sz="1600" dirty="0"/>
              <a:t>Latif, Jahanzaib, Tu, Shanshan, Xiao, </a:t>
            </a:r>
            <a:r>
              <a:rPr lang="en-IN" sz="1600" dirty="0" err="1"/>
              <a:t>Chuangbai</a:t>
            </a:r>
            <a:r>
              <a:rPr lang="en-IN" sz="1600" dirty="0"/>
              <a:t>, Rehman, Sadaqat Ur, Sadiq, Mazhar, Farhan, Muhammad, Digital Forensics Use Case for Glaucoma Detection Using Transfer Learning Based on Deep Convolutional Neural Networks, Security and Communication Networks, 2021, 4494447, 13 pages, 2021. </a:t>
            </a:r>
            <a:r>
              <a:rPr lang="en-IN" sz="1600" dirty="0">
                <a:hlinkClick r:id="rId4"/>
              </a:rPr>
              <a:t>https://doi.org/10.1155/2021/4494447</a:t>
            </a:r>
            <a:endParaRPr lang="en-IN" sz="1600" dirty="0"/>
          </a:p>
          <a:p>
            <a:pPr marL="514350" indent="-514350">
              <a:buFont typeface="+mj-lt"/>
              <a:buAutoNum type="arabicPeriod"/>
            </a:pPr>
            <a:r>
              <a:rPr lang="en-IN" sz="1600" dirty="0"/>
              <a:t>Li, L., Xu, M., Liu, H., Li, Y., Wang, X., Jiang, L., Wang, Z., Fan, X., &amp; Wang, N. (2020). A Large-Scale Database and a CNN Model for Attention-Based Glaucoma Detection. IEEE transactions on medical imaging, 39(2), 413–424. </a:t>
            </a:r>
            <a:r>
              <a:rPr lang="en-IN" sz="1600" dirty="0">
                <a:hlinkClick r:id="rId5"/>
              </a:rPr>
              <a:t>https://doi.org/10.1109/TMI.2019.2927226</a:t>
            </a:r>
            <a:endParaRPr lang="en-IN" sz="1600" dirty="0"/>
          </a:p>
          <a:p>
            <a:pPr marL="514350" indent="-514350">
              <a:buFont typeface="+mj-lt"/>
              <a:buAutoNum type="arabicPeriod"/>
            </a:pPr>
            <a:r>
              <a:rPr lang="en-IN" sz="1600" dirty="0" err="1"/>
              <a:t>Hemelings</a:t>
            </a:r>
            <a:r>
              <a:rPr lang="en-IN" sz="1600" dirty="0"/>
              <a:t>, R., Elen, B., Barbosa-Breda, J., Lemmens, S., </a:t>
            </a:r>
            <a:r>
              <a:rPr lang="en-IN" sz="1600" dirty="0" err="1"/>
              <a:t>Meire</a:t>
            </a:r>
            <a:r>
              <a:rPr lang="en-IN" sz="1600" dirty="0"/>
              <a:t>, M., </a:t>
            </a:r>
            <a:r>
              <a:rPr lang="en-IN" sz="1600" dirty="0" err="1"/>
              <a:t>Pourjavan</a:t>
            </a:r>
            <a:r>
              <a:rPr lang="en-IN" sz="1600" dirty="0"/>
              <a:t>, S., Vandewalle, E., Van de </a:t>
            </a:r>
            <a:r>
              <a:rPr lang="en-IN" sz="1600" dirty="0" err="1"/>
              <a:t>Veire</a:t>
            </a:r>
            <a:r>
              <a:rPr lang="en-IN" sz="1600" dirty="0"/>
              <a:t>, S., Blaschko, M. B., De Boever, P., &amp; </a:t>
            </a:r>
            <a:r>
              <a:rPr lang="en-IN" sz="1600" dirty="0" err="1"/>
              <a:t>Stalmans</a:t>
            </a:r>
            <a:r>
              <a:rPr lang="en-IN" sz="1600" dirty="0"/>
              <a:t>, I. (2020). Accurate prediction of glaucoma from colour fundus images with a convolutional neural network that relies on active and transfer learning. Acta </a:t>
            </a:r>
            <a:r>
              <a:rPr lang="en-IN" sz="1600" dirty="0" err="1"/>
              <a:t>ophthalmologica</a:t>
            </a:r>
            <a:r>
              <a:rPr lang="en-IN" sz="1600" dirty="0"/>
              <a:t>, 98(1), e94–e100. </a:t>
            </a:r>
            <a:r>
              <a:rPr lang="en-IN" sz="1600" dirty="0">
                <a:hlinkClick r:id="rId6"/>
              </a:rPr>
              <a:t>https://doi.org/10.1111/aos.14193</a:t>
            </a:r>
            <a:endParaRPr lang="en-IN" sz="1600" dirty="0"/>
          </a:p>
          <a:p>
            <a:pPr marL="514350" indent="-514350">
              <a:buFont typeface="+mj-lt"/>
              <a:buAutoNum type="arabicPeriod"/>
            </a:pPr>
            <a:r>
              <a:rPr lang="en-IN" sz="1600" dirty="0" err="1"/>
              <a:t>Beiji</a:t>
            </a:r>
            <a:r>
              <a:rPr lang="en-IN" sz="1600" dirty="0"/>
              <a:t> Zou, </a:t>
            </a:r>
            <a:r>
              <a:rPr lang="en-IN" sz="1600" dirty="0" err="1"/>
              <a:t>Zhiyou</a:t>
            </a:r>
            <a:r>
              <a:rPr lang="en-IN" sz="1600" dirty="0"/>
              <a:t> He, </a:t>
            </a:r>
            <a:r>
              <a:rPr lang="en-IN" sz="1600" dirty="0" err="1"/>
              <a:t>Rongchang</a:t>
            </a:r>
            <a:r>
              <a:rPr lang="en-IN" sz="1600" dirty="0"/>
              <a:t> Zhao, </a:t>
            </a:r>
            <a:r>
              <a:rPr lang="en-IN" sz="1600" dirty="0" err="1"/>
              <a:t>Chengzhang</a:t>
            </a:r>
            <a:r>
              <a:rPr lang="en-IN" sz="1600" dirty="0"/>
              <a:t> Zhu, </a:t>
            </a:r>
            <a:r>
              <a:rPr lang="en-IN" sz="1600" dirty="0" err="1"/>
              <a:t>Wangmin</a:t>
            </a:r>
            <a:r>
              <a:rPr lang="en-IN" sz="1600" dirty="0"/>
              <a:t> Liao, Shuo Li,8 Non-rigid retinal image registration using an unsupervised structure-driven regression network, Neurocomputing, Volume 404, 2020, Pages 14-25, ISSN 0925-2312, </a:t>
            </a:r>
            <a:r>
              <a:rPr lang="en-IN" sz="1600" dirty="0">
                <a:hlinkClick r:id="rId7"/>
              </a:rPr>
              <a:t>https://doi.org/10.1016/j.neucom.2020.04.122</a:t>
            </a:r>
            <a:r>
              <a:rPr lang="en-IN" sz="1600" dirty="0"/>
              <a:t>.</a:t>
            </a:r>
          </a:p>
          <a:p>
            <a:pPr marL="514350" indent="-514350">
              <a:buFont typeface="+mj-lt"/>
              <a:buAutoNum type="arabicPeriod"/>
            </a:pPr>
            <a:endParaRPr lang="en-IN" sz="1600" dirty="0"/>
          </a:p>
          <a:p>
            <a:pPr marL="514350" indent="-514350">
              <a:buFont typeface="+mj-lt"/>
              <a:buAutoNum type="arabicPeriod"/>
            </a:pPr>
            <a:endParaRPr lang="en-IN" sz="1600" dirty="0"/>
          </a:p>
          <a:p>
            <a:pPr marL="514350" indent="-514350">
              <a:buFont typeface="+mj-lt"/>
              <a:buAutoNum type="arabicPeriod"/>
            </a:pPr>
            <a:endParaRPr lang="en-IN" sz="1600" dirty="0"/>
          </a:p>
        </p:txBody>
      </p:sp>
    </p:spTree>
    <p:extLst>
      <p:ext uri="{BB962C8B-B14F-4D97-AF65-F5344CB8AC3E}">
        <p14:creationId xmlns:p14="http://schemas.microsoft.com/office/powerpoint/2010/main" val="14285628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595</TotalTime>
  <Words>746</Words>
  <Application>Microsoft Office PowerPoint</Application>
  <PresentationFormat>Widescreen</PresentationFormat>
  <Paragraphs>83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Glaucoma Detection using Multi-task U-Net D-15</vt:lpstr>
      <vt:lpstr>Introduction</vt:lpstr>
      <vt:lpstr>Literature Review</vt:lpstr>
      <vt:lpstr>Literature Review</vt:lpstr>
      <vt:lpstr>Input and Expected Output</vt:lpstr>
      <vt:lpstr>U-Net Architecture</vt:lpstr>
      <vt:lpstr>Patience – Early stopping</vt:lpstr>
      <vt:lpstr>Results</vt:lpstr>
      <vt:lpstr>Results</vt:lpstr>
      <vt:lpstr>Output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Renny Harlin</dc:creator>
  <cp:lastModifiedBy>Renny Harlin</cp:lastModifiedBy>
  <cp:revision>4</cp:revision>
  <dcterms:created xsi:type="dcterms:W3CDTF">2026-01-20T23:28:12Z</dcterms:created>
  <dcterms:modified xsi:type="dcterms:W3CDTF">2026-01-21T10:15:48Z</dcterms:modified>
</cp:coreProperties>
</file>